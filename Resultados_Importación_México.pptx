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6" r:id="rId1"/>
  </p:sldMasterIdLst>
  <p:sldIdLst>
    <p:sldId id="260" r:id="rId2"/>
    <p:sldId id="257" r:id="rId3"/>
    <p:sldId id="262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title>
      <c:tx>
        <c:rich>
          <a:bodyPr/>
          <a:lstStyle/>
          <a:p>
            <a:r>
              <a:rPr lang="es-ES" sz="2400" dirty="0">
                <a:latin typeface="IM FELL DW Pica" panose="02000000000000000000" pitchFamily="2" charset="0"/>
              </a:rPr>
              <a:t>Distribución del importe por categoría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Importe (USD)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Alimentos</c:v>
                </c:pt>
                <c:pt idx="1">
                  <c:v>Bebidas</c:v>
                </c:pt>
                <c:pt idx="2">
                  <c:v>Limpieza</c:v>
                </c:pt>
                <c:pt idx="3">
                  <c:v>Hogar</c:v>
                </c:pt>
                <c:pt idx="4">
                  <c:v>Oficina</c:v>
                </c:pt>
                <c:pt idx="5">
                  <c:v>Tecnología</c:v>
                </c:pt>
                <c:pt idx="6">
                  <c:v>Accesorios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9464</c:v>
                </c:pt>
                <c:pt idx="1">
                  <c:v>2661.75</c:v>
                </c:pt>
                <c:pt idx="2">
                  <c:v>3438.5</c:v>
                </c:pt>
                <c:pt idx="3">
                  <c:v>4945.5</c:v>
                </c:pt>
                <c:pt idx="4">
                  <c:v>3803.5</c:v>
                </c:pt>
                <c:pt idx="5">
                  <c:v>6403.75</c:v>
                </c:pt>
                <c:pt idx="6">
                  <c:v>9642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AD-4D54-B1DC-F1C194E62A03}"/>
            </c:ext>
          </c:extLst>
        </c:ser>
        <c:dLbls>
          <c:dLblPos val="bestFit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7" name="Group 1556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1558" name="Straight Connector 1557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1558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0" name="Straight Connector 1559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1" name="Straight Connector 1560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1561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1562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4" name="Straight Connector 1563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1564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6" name="Straight Connector 1565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1566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8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9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0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1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2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3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4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5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6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7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8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9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0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1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2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3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4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5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6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7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8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9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0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1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2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3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4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5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6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7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8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9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0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1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2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3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4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5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6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7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8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9" name="Oval 1608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0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1" name="Oval 1610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2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3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4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5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6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7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8" name="Oval 1617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9" name="Oval 1618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0" name="Oval 1619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1" name="Oval 1620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2" name="Oval 1621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3" name="Oval 1622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4" name="Oval 1623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6" name="Oval 1625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7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8" name="Oval 1627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9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0" name="Oval 1629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1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2" name="Oval 1631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3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4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5" name="Oval 1634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6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7" name="Oval 1636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8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9" name="Oval 1638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0" name="Oval 1639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1" name="Oval 1640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2" name="Oval 1641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3" name="Oval 1642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4" name="Oval 1643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5" name="Oval 1644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6" name="Oval 1645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7" name="Oval 1646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8" name="Oval 1647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9" name="Oval 1648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0" name="Oval 1649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1" name="Oval 1650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2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3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4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5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6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7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8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9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0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1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2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3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4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5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6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7" name="Oval 1666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8" name="Oval 1667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9" name="Oval 1668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0" name="Oval 1669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1" name="Oval 1670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2" name="Oval 1671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3" name="Oval 1672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4" name="Oval 1673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5" name="Oval 1674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6" name="Oval 1675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7" name="Oval 1676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8" name="Oval 1677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9" name="Oval 1678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0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1" name="Oval 1680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2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3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4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5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6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7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8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9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0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1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2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3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4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5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6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7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8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9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0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1" name="Oval 1700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2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3" name="Oval 1702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4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5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6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7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8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9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0" name="Oval 1709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1" name="Oval 1710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2" name="Oval 1711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3" name="Oval 1712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4" name="Oval 1713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5" name="Oval 1714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6" name="Oval 1715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7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8" name="Oval 1717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9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0" name="Oval 1719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1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2" name="Oval 1721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3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4" name="Oval 1723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5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6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7" name="Oval 1726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8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9" name="Oval 1728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0" name="Oval 1729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1" name="Oval 1730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2" name="Oval 1731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3" name="Oval 1732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4" name="Oval 1733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5" name="Oval 1734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6" name="Oval 1735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7" name="Oval 1736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8" name="Oval 1737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9" name="Oval 1738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0" name="Oval 1739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1" name="Oval 1740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2" name="Oval 1741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3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4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5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6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7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8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9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0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1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2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3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4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5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6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7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8" name="Oval 1757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9" name="Oval 1758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0" name="Oval 1759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1" name="Oval 1760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2" name="Oval 1761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3" name="Oval 1762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4" name="Oval 1763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5" name="Oval 1764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6" name="Oval 1765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7" name="Oval 1766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8" name="Oval 1767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9" name="Oval 1768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0" name="Oval 1769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1" name="Oval 1770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2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3" name="Oval 1772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5" name="Oval 1774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6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7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8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9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0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1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2" name="Oval 1781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3" name="Oval 1782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4" name="Oval 1783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5" name="Oval 1784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6" name="Oval 1785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7" name="Oval 1786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8" name="Oval 1787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9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0" name="Oval 178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1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2" name="Oval 1791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4" name="Oval 1793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5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6" name="Oval 1795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7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8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9" name="Oval 1798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00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1" name="Oval 1800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2" name="Oval 1801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3" name="Oval 1802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4" name="Oval 1803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5" name="Oval 1804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6" name="Oval 1805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7" name="Oval 1806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8" name="Oval 1807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9" name="Oval 1808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0" name="Oval 1809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1" name="Oval 1810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2" name="Oval 1811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3" name="Oval 1812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4" name="Oval 1813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5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6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7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8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9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0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1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2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3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4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5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6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7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8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9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0" name="Oval 1829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1" name="Oval 1830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2" name="Oval 1831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3" name="Oval 1832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4" name="Oval 1833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5" name="Oval 1834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6" name="Oval 1835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7" name="Oval 1836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8" name="Oval 1837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9" name="Oval 1838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0" name="Oval 1839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1" name="Oval 1840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2" name="Oval 1841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3" name="Oval 1842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4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5" name="Oval 18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6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7" name="Oval 1846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8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9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0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1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2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3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4" name="Oval 1853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5" name="Oval 1854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6" name="Oval 1855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7" name="Oval 1856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8" name="Oval 1857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9" name="Oval 1858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0" name="Oval 1859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1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2" name="Oval 1861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3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4" name="Oval 1863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5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6" name="Oval 186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7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8" name="Oval 1867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9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0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1" name="Oval 1870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72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3" name="Oval 1872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4" name="Oval 1873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5" name="Oval 1874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6" name="Oval 1875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7" name="Oval 1876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8" name="Oval 1877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9" name="Oval 1878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0" name="Oval 1879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1" name="Oval 1880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2" name="Oval 1881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3" name="Oval 1882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4" name="Oval 1883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5" name="Oval 1884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6" name="Oval 1885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7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8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9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0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1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2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3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4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5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6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7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8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9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0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1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2" name="Oval 1901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3" name="Oval 1902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4" name="Oval 1903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5" name="Oval 1904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6" name="Oval 1905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7" name="Oval 1906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8" name="Oval 1907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9" name="Oval 1908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0" name="Oval 1909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1" name="Oval 1910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2" name="Oval 1911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3" name="Oval 1912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4" name="Oval 1913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5" name="Oval 1914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6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7" name="Oval 1916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18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9" name="Oval 1918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0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1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2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3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4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5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6" name="Oval 1925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7" name="Oval 1926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8" name="Oval 1927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9" name="Oval 1928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0" name="Oval 1929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1" name="Oval 1930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2" name="Oval 1931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3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4" name="Oval 1933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5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6" name="Oval 1935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7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8" name="Oval 1937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9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0" name="Oval 1939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3" name="Oval 1942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4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5" name="Oval 1944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6" name="Oval 1945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7" name="Oval 1946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8" name="Oval 1947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9" name="Oval 1948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0" name="Oval 1949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1" name="Oval 1950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2" name="Oval 1951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3" name="Oval 1952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4" name="Oval 1953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5" name="Oval 1954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6" name="Oval 1955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7" name="Oval 1956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8" name="Oval 1957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9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0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1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2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3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4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5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6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7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8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9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0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1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2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3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4" name="Oval 1973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5" name="Oval 1974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6" name="Oval 1975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7" name="Oval 1976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8" name="Oval 1977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9" name="Oval 1978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0" name="Oval 1979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1" name="Oval 1980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2" name="Oval 1981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3" name="Oval 1982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4" name="Oval 1983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5" name="Oval 1984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6" name="Oval 1985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7" name="Oval 1986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8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9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0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1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2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3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4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5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6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7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8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9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0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1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2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3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021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20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roup 525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527" name="Straight Connector 526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7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8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9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0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1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2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3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4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5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6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7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8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9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0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1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2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3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4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5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6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7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8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9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0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1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2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3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4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5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6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7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8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9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0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1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2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3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4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5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6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7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8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9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0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1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2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3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4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6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7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8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9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0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1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2" name="Oval 591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3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4" name="Oval 593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5" name="Oval 594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6" name="Oval 595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7" name="Oval 596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8" name="Oval 597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9" name="Oval 598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0" name="Oval 599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1" name="Oval 600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2" name="Oval 601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3" name="Oval 602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4" name="Oval 603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5" name="Oval 604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6" name="Oval 605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7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8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9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0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1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2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3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4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5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6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7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8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9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0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1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2" name="Oval 621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3" name="Oval 622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4" name="Oval 623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5" name="Oval 624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6" name="Oval 625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7" name="Oval 626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8" name="Oval 627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9" name="Oval 628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0" name="Oval 629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1" name="Oval 630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2" name="Oval 631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3" name="Oval 632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4" name="Oval 633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5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6" name="Oval 635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7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8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9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0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1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2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3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4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5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6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7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8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9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0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1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2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3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4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5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6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7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8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9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0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1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2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3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4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5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6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7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8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9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0" name="Oval 669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1" name="Oval 670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2" name="Oval 671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3" name="Oval 672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4" name="Oval 673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5" name="Oval 674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6" name="Oval 675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7" name="Oval 676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8" name="Oval 677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9" name="Oval 678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0" name="Oval 679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1" name="Oval 680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2" name="Oval 681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3" name="Oval 682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4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5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6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7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8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9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0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1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2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3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4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5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6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7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8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9" name="Oval 698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0" name="Oval 699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1" name="Oval 700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2" name="Oval 701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3" name="Oval 702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4" name="Oval 703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5" name="Oval 704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6" name="Oval 705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7" name="Oval 706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8" name="Oval 707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9" name="Oval 708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0" name="Oval 709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1" name="Oval 710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2" name="Oval 711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3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5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6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7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8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9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0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1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2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4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5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6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7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8" name="Oval 727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9" name="Oval 728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0" name="Oval 729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1" name="Oval 730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2" name="Oval 731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3" name="Oval 732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4" name="Oval 733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5" name="Oval 734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6" name="Oval 735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7" name="Oval 736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8" name="Oval 737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9" name="Oval 738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0" name="Oval 739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1" name="Oval 740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2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3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4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5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6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7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8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9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0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1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2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3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4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5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6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7" name="Oval 756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8" name="Oval 757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9" name="Oval 758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0" name="Oval 759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1" name="Oval 760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2" name="Oval 761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3" name="Oval 762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4" name="Oval 763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5" name="Oval 764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6" name="Oval 765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7" name="Oval 766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8" name="Oval 767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9" name="Oval 768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0" name="Oval 769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1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2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3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4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5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6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7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8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9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0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1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2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3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4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5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6" name="Oval 785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7" name="Oval 786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8" name="Oval 787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9" name="Oval 788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0" name="Oval 789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1" name="Oval 790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2" name="Oval 791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3" name="Oval 792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4" name="Oval 793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5" name="Oval 794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6" name="Oval 795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7" name="Oval 796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8" name="Oval 797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9" name="Oval 798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0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1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2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3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4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5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6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7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8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9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0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1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2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3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4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5" name="Oval 814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6" name="Oval 815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7" name="Oval 816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8" name="Oval 817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9" name="Oval 818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0" name="Oval 819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1" name="Oval 820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2" name="Oval 821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3" name="Oval 822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4" name="Oval 823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5" name="Oval 824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6" name="Oval 825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7" name="Oval 826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8" name="Oval 827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9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0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1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2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3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4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5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6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7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8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9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0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3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4" name="Oval 843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5" name="Oval 844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6" name="Oval 845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7" name="Oval 846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8" name="Oval 847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9" name="Oval 848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0" name="Oval 849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1" name="Oval 850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2" name="Oval 851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3" name="Oval 852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4" name="Oval 853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5" name="Oval 854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6" name="Oval 855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7" name="Oval 856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8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9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0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1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2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3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4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5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6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7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8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9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0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1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2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3" name="Oval 872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4" name="Oval 873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5" name="Oval 874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6" name="Oval 875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7" name="Oval 876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8" name="Oval 877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9" name="Oval 878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0" name="Oval 879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1" name="Oval 880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2" name="Oval 881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3" name="Oval 882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4" name="Oval 883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5" name="Oval 884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6" name="Oval 885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7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8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9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0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1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2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3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4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5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6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7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8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9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0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1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2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3" name="Oval 902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4" name="Oval 903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5" name="Oval 904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6" name="Oval 905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7" name="Oval 906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8" name="Oval 907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9" name="Oval 908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0" name="Oval 909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1" name="Oval 910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2" name="Oval 911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3" name="Oval 912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4" name="Oval 913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5" name="Oval 914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6" name="Oval 915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7" name="Oval 916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8" name="Oval 917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9" name="Oval 918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0" name="Oval 919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1" name="Oval 920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2" name="Oval 921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3" name="Oval 922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4" name="Oval 923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5" name="Oval 924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6" name="Oval 925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7" name="Oval 926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8" name="Oval 927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9" name="Oval 928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0" name="Oval 929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1" name="Oval 930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2" name="Oval 931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3" name="Oval 932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4" name="Oval 933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5" name="Oval 934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6" name="Oval 935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7" name="Oval 936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8" name="Oval 937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9" name="Oval 938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0" name="Oval 93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1" name="Oval 940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2" name="Oval 941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3" name="Oval 942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4" name="Oval 943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5" name="Oval 9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6" name="Oval 945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7" name="Oval 946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8" name="Oval 947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9" name="Oval 948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0" name="Oval 949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1" name="Oval 950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2" name="Oval 951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3" name="Oval 952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4" name="Oval 953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5" name="Oval 954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6" name="Oval 95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7" name="Oval 956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8" name="Oval 957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9" name="Oval 958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0" name="Oval 959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1" name="Oval 960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2" name="Oval 961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3" name="Oval 962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4" name="Oval 963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5" name="Oval 964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6" name="Oval 965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7" name="Oval 966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8" name="Oval 967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9" name="Oval 968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0" name="Oval 969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1" name="Oval 970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2" name="Oval 971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tIns="45720" rIns="91440" bIns="4572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16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259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52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646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39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79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3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825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12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897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28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A3F08-C429-E581-5833-174D5F5DCA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lang="es-E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 de Importación</a:t>
            </a:r>
            <a:br>
              <a:rPr lang="es-E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México → Nicaragua</a:t>
            </a:r>
            <a:br>
              <a:rPr lang="es-ES" dirty="0">
                <a:solidFill>
                  <a:schemeClr val="tx1"/>
                </a:solidFill>
                <a:latin typeface="IM FELL DW Pica" panose="02000000000000000000" pitchFamily="2" charset="0"/>
              </a:rPr>
            </a:br>
            <a:endParaRPr lang="en-US" dirty="0">
              <a:solidFill>
                <a:schemeClr val="tx1"/>
              </a:solidFill>
              <a:latin typeface="IM FELL DW Pica" panose="02000000000000000000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79CB0F-7432-F624-9A2A-FFCA7D149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599" y="4960137"/>
            <a:ext cx="3411511" cy="1463040"/>
          </a:xfrm>
        </p:spPr>
        <p:txBody>
          <a:bodyPr>
            <a:normAutofit fontScale="92500" lnSpcReduction="20000"/>
          </a:bodyPr>
          <a:lstStyle/>
          <a:p>
            <a:endParaRPr lang="en-US" dirty="0">
              <a:latin typeface="IM FELL DW Pica" panose="02000000000000000000" pitchFamily="2" charset="0"/>
            </a:endParaRPr>
          </a:p>
          <a:p>
            <a:endParaRPr lang="en-US" sz="2000" dirty="0">
              <a:latin typeface="IM FELL DW Pica" panose="02000000000000000000" pitchFamily="2" charset="0"/>
            </a:endParaRPr>
          </a:p>
          <a:p>
            <a:r>
              <a:rPr lang="en-US" sz="2000" dirty="0">
                <a:latin typeface="IM FELL DW Pica" panose="02000000000000000000" pitchFamily="2" charset="0"/>
              </a:rPr>
              <a:t>Andrea Marcela </a:t>
            </a:r>
            <a:r>
              <a:rPr lang="en-US" sz="2000" dirty="0" err="1">
                <a:latin typeface="IM FELL DW Pica" panose="02000000000000000000" pitchFamily="2" charset="0"/>
              </a:rPr>
              <a:t>Gadea</a:t>
            </a:r>
            <a:r>
              <a:rPr lang="en-US" sz="2000" dirty="0">
                <a:latin typeface="IM FELL DW Pica" panose="02000000000000000000" pitchFamily="2" charset="0"/>
              </a:rPr>
              <a:t> Gutiérrez.</a:t>
            </a:r>
          </a:p>
          <a:p>
            <a:r>
              <a:rPr lang="en-US" sz="2000" dirty="0">
                <a:latin typeface="IM FELL DW Pica" panose="02000000000000000000" pitchFamily="2" charset="0"/>
              </a:rPr>
              <a:t>Ashley Nathalia González Largaespada.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502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6"/>
                </a:solidFill>
                <a:latin typeface="Aptos"/>
              </a:defRPr>
            </a:pPr>
            <a:r>
              <a:rPr dirty="0" err="1"/>
              <a:t>NicaTrade</a:t>
            </a:r>
            <a:r>
              <a:rPr dirty="0"/>
              <a:t> International  •  </a:t>
            </a:r>
            <a:r>
              <a:rPr dirty="0" err="1"/>
              <a:t>Importación</a:t>
            </a:r>
            <a:r>
              <a:rPr dirty="0"/>
              <a:t> México → Nicaragua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47237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253"/>
                </a:solidFill>
                <a:latin typeface="Aptos Display"/>
              </a:defRPr>
            </a:pPr>
            <a:r>
              <a:rPr sz="3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Empresa</a:t>
            </a:r>
            <a:r>
              <a:rPr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3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operación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3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6766560" cy="4343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64592" rIns="228600" rtlCol="0" anchor="ctr"/>
          <a:lstStyle/>
          <a:p>
            <a:pPr algn="ctr">
              <a:spcAft>
                <a:spcPts val="11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Empresa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NicaTrade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dedicada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análisis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gestión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operaciones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comercio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internacional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Operación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analizada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importación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comercial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destino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Nicaragua, con México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origen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principal.</a:t>
            </a:r>
          </a:p>
          <a:p>
            <a:pPr>
              <a:spcAft>
                <a:spcPts val="11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analizada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istribuid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categorías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Productos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importados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importados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818120" y="1600200"/>
            <a:ext cx="3383280" cy="1143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A659C"/>
                </a:solidFill>
                <a:latin typeface="Aptos Display"/>
              </a:defRPr>
            </a:pPr>
            <a:r>
              <a:rPr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IM FELL DW Pica" panose="02000000000000000000" pitchFamily="2" charset="0"/>
              </a:rPr>
              <a:t>6</a:t>
            </a:r>
          </a:p>
          <a:p>
            <a:pPr algn="ctr">
              <a:defRPr sz="1100">
                <a:solidFill>
                  <a:srgbClr val="646C76"/>
                </a:solidFill>
                <a:latin typeface="Aptos"/>
              </a:defRPr>
            </a:pP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M FELL DW Pica" panose="02000000000000000000" pitchFamily="2" charset="0"/>
              </a:rPr>
              <a:t>líneas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IM FELL DW Pica" panose="02000000000000000000" pitchFamily="2" charset="0"/>
              </a:rPr>
              <a:t> de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M FELL DW Pica" panose="02000000000000000000" pitchFamily="2" charset="0"/>
              </a:rPr>
              <a:t>productos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  <a:latin typeface="IM FELL DW Pica" panose="02000000000000000000" pitchFamily="2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18120" y="2971800"/>
            <a:ext cx="3383280" cy="1143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A659C"/>
                </a:solidFill>
                <a:latin typeface="Aptos Display"/>
              </a:defRPr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IM FELL DW Pica" panose="02000000000000000000" pitchFamily="2" charset="0"/>
              </a:rPr>
              <a:t>50</a:t>
            </a:r>
            <a:endParaRPr sz="3600" dirty="0">
              <a:solidFill>
                <a:schemeClr val="tx1">
                  <a:lumMod val="95000"/>
                  <a:lumOff val="5000"/>
                </a:schemeClr>
              </a:solidFill>
              <a:latin typeface="IM FELL DW Pica" panose="02000000000000000000" pitchFamily="2" charset="0"/>
            </a:endParaRPr>
          </a:p>
          <a:p>
            <a:pPr algn="ctr">
              <a:defRPr sz="1100">
                <a:solidFill>
                  <a:srgbClr val="646C76"/>
                </a:solidFill>
                <a:latin typeface="Aptos"/>
              </a:defRPr>
            </a:pP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M FELL DW Pica" panose="02000000000000000000" pitchFamily="2" charset="0"/>
              </a:rPr>
              <a:t>unidades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IM FELL DW Pica" panose="02000000000000000000" pitchFamily="2" charset="0"/>
              </a:rPr>
              <a:t>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M FELL DW Pica" panose="02000000000000000000" pitchFamily="2" charset="0"/>
              </a:rPr>
              <a:t>registradas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  <a:latin typeface="IM FELL DW Pica" panose="02000000000000000000" pitchFamily="2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818120" y="4343400"/>
            <a:ext cx="3383280" cy="1143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A659C"/>
                </a:solidFill>
                <a:latin typeface="Aptos Display"/>
              </a:defRPr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IM FELL DW Pica" panose="02000000000000000000" pitchFamily="2" charset="0"/>
              </a:rPr>
              <a:t>7</a:t>
            </a:r>
            <a:endParaRPr sz="3600" dirty="0">
              <a:solidFill>
                <a:schemeClr val="tx1">
                  <a:lumMod val="95000"/>
                  <a:lumOff val="5000"/>
                </a:schemeClr>
              </a:solidFill>
              <a:latin typeface="IM FELL DW Pica" panose="02000000000000000000" pitchFamily="2" charset="0"/>
            </a:endParaRPr>
          </a:p>
          <a:p>
            <a:pPr algn="ctr">
              <a:defRPr sz="1100">
                <a:solidFill>
                  <a:srgbClr val="646C76"/>
                </a:solidFill>
                <a:latin typeface="Aptos"/>
              </a:defRPr>
            </a:pP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M FELL DW Pica" panose="02000000000000000000" pitchFamily="2" charset="0"/>
              </a:rPr>
              <a:t>categorías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  <a:latin typeface="IM FELL DW Pica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6"/>
                </a:solidFill>
                <a:latin typeface="Aptos"/>
              </a:defRPr>
            </a:pPr>
            <a:r>
              <a:t>NicaTrade International  •  Importación México → Nicaragua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81840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253"/>
                </a:solidFill>
                <a:latin typeface="Aptos Display"/>
              </a:defRPr>
            </a:pPr>
            <a:r>
              <a:rPr sz="4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  <a:endParaRPr sz="4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865190"/>
            <a:ext cx="3246120" cy="1143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A659C"/>
                </a:solidFill>
                <a:latin typeface="Aptos Display"/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US$40,359.00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defRPr sz="1100">
                <a:solidFill>
                  <a:srgbClr val="646C76"/>
                </a:solidFill>
                <a:latin typeface="Aptos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Total de la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operación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3268424"/>
            <a:ext cx="3246120" cy="1143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A659C"/>
                </a:solidFill>
                <a:latin typeface="Aptos Display"/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US$1,912.50</a:t>
            </a:r>
          </a:p>
          <a:p>
            <a:pPr algn="ctr">
              <a:defRPr sz="2400" b="1">
                <a:solidFill>
                  <a:srgbClr val="2A659C"/>
                </a:solidFill>
                <a:latin typeface="Aptos Display"/>
              </a:defRPr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Mayor 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importe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: Mochila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708789"/>
            <a:ext cx="3246120" cy="1143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A659C"/>
                </a:solidFill>
                <a:latin typeface="Aptos Display"/>
              </a:defRPr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US$7.74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algn="ctr">
              <a:defRPr sz="2400" b="1">
                <a:solidFill>
                  <a:srgbClr val="2A659C"/>
                </a:solidFill>
                <a:latin typeface="Aptos Display"/>
              </a:defRPr>
            </a:pPr>
            <a:r>
              <a:rPr lang="en-US" sz="11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Precio</a:t>
            </a:r>
            <a:r>
              <a: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lang="en-US" sz="11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unitario</a:t>
            </a:r>
            <a:r>
              <a: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lang="en-US" sz="11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promedio</a:t>
            </a:r>
            <a:endParaRPr lang="en-US" sz="1100" b="1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969788"/>
              </p:ext>
            </p:extLst>
          </p:nvPr>
        </p:nvGraphicFramePr>
        <p:xfrm>
          <a:off x="4315968" y="1371600"/>
          <a:ext cx="7296912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6"/>
                </a:solidFill>
                <a:latin typeface="Aptos"/>
              </a:defRPr>
            </a:pPr>
            <a:r>
              <a:t>NicaTrade International  •  Importación México → Nicaragua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306526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253"/>
                </a:solidFill>
                <a:latin typeface="Aptos Display"/>
              </a:defRPr>
            </a:pPr>
            <a:r>
              <a:rPr sz="4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10652760" cy="43891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64592" rIns="228600" rtlCol="0" anchor="ctr"/>
          <a:lstStyle/>
          <a:p>
            <a:r>
              <a:rPr lang="es-E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análisis de la operación de importación permitió organizar y comprender mejor la información de los productos importados de México hacia Nicaragua. Se determinó que el </a:t>
            </a:r>
            <a:r>
              <a:rPr lang="es-E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importe total de la operación es de US$40,359.00</a:t>
            </a:r>
            <a:r>
              <a:rPr lang="es-E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identificando las categorías y productos con mayor participación.</a:t>
            </a:r>
          </a:p>
          <a:p>
            <a:r>
              <a:rPr lang="es-E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Gestionar esta información de forma digital facilita los cálculos, reduce errores y permite consultar los datos de manera rápida y ordenada. Esto es importante para </a:t>
            </a:r>
            <a:r>
              <a:rPr lang="es-E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tomar mejores decisiones y llevar un mayor control de las operaciones de comercio internacional</a:t>
            </a:r>
            <a:r>
              <a:rPr lang="es-E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Amarillo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B4028482-F53A-4442-AB14-9B7A43F44F9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28</TotalTime>
  <Words>221</Words>
  <Application>Microsoft Office PowerPoint</Application>
  <PresentationFormat>Panorámica</PresentationFormat>
  <Paragraphs>30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1" baseType="lpstr">
      <vt:lpstr>Aptos</vt:lpstr>
      <vt:lpstr>IM FELL DW Pica</vt:lpstr>
      <vt:lpstr>Times New Roman</vt:lpstr>
      <vt:lpstr>Tw Cen MT</vt:lpstr>
      <vt:lpstr>Tw Cen MT Condensed</vt:lpstr>
      <vt:lpstr>Wingdings 3</vt:lpstr>
      <vt:lpstr>Integral</vt:lpstr>
      <vt:lpstr>Resultados de Importación México → Nicaragua 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 gonz</cp:lastModifiedBy>
  <cp:revision>2</cp:revision>
  <dcterms:created xsi:type="dcterms:W3CDTF">2013-01-27T09:14:16Z</dcterms:created>
  <dcterms:modified xsi:type="dcterms:W3CDTF">2026-09-17T14:37:34Z</dcterms:modified>
  <cp:category/>
</cp:coreProperties>
</file>